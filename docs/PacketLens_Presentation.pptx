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Inter Bold" charset="1" panose="020B0802030000000004"/>
      <p:regular r:id="rId29"/>
    </p:embeddedFont>
    <p:embeddedFont>
      <p:font typeface="Inter Ultra-Bold" charset="1" panose="02000503000000020004"/>
      <p:regular r:id="rId30"/>
    </p:embeddedFont>
    <p:embeddedFont>
      <p:font typeface="Inter" charset="1" panose="020B0502030000000004"/>
      <p:regular r:id="rId31"/>
    </p:embeddedFont>
    <p:embeddedFont>
      <p:font typeface="Arimo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mahmoud375/Packet-Lens.git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06808" y="8112363"/>
            <a:ext cx="4674384" cy="945201"/>
            <a:chOff x="0" y="0"/>
            <a:chExt cx="1231113" cy="248942"/>
          </a:xfrm>
        </p:grpSpPr>
        <p:sp>
          <p:nvSpPr>
            <p:cNvPr name="Freeform 3" id="3">
              <a:hlinkClick r:id="rId2" tooltip="https://github.com/mahmoud375/Packet-Lens.git"/>
            </p:cNvPr>
            <p:cNvSpPr/>
            <p:nvPr/>
          </p:nvSpPr>
          <p:spPr>
            <a:xfrm flipH="false" flipV="false" rot="0">
              <a:off x="0" y="0"/>
              <a:ext cx="1231113" cy="248942"/>
            </a:xfrm>
            <a:custGeom>
              <a:avLst/>
              <a:gdLst/>
              <a:ahLst/>
              <a:cxnLst/>
              <a:rect r="r" b="b" t="t" l="l"/>
              <a:pathLst>
                <a:path h="248942" w="1231113">
                  <a:moveTo>
                    <a:pt x="124471" y="0"/>
                  </a:moveTo>
                  <a:lnTo>
                    <a:pt x="1106643" y="0"/>
                  </a:lnTo>
                  <a:cubicBezTo>
                    <a:pt x="1139654" y="0"/>
                    <a:pt x="1171314" y="13114"/>
                    <a:pt x="1194657" y="36457"/>
                  </a:cubicBezTo>
                  <a:cubicBezTo>
                    <a:pt x="1218000" y="59800"/>
                    <a:pt x="1231113" y="91459"/>
                    <a:pt x="1231113" y="124471"/>
                  </a:cubicBezTo>
                  <a:lnTo>
                    <a:pt x="1231113" y="124471"/>
                  </a:lnTo>
                  <a:cubicBezTo>
                    <a:pt x="1231113" y="157483"/>
                    <a:pt x="1218000" y="189142"/>
                    <a:pt x="1194657" y="212485"/>
                  </a:cubicBezTo>
                  <a:cubicBezTo>
                    <a:pt x="1171314" y="235828"/>
                    <a:pt x="1139654" y="248942"/>
                    <a:pt x="1106643" y="248942"/>
                  </a:cubicBezTo>
                  <a:lnTo>
                    <a:pt x="124471" y="248942"/>
                  </a:lnTo>
                  <a:cubicBezTo>
                    <a:pt x="91459" y="248942"/>
                    <a:pt x="59800" y="235828"/>
                    <a:pt x="36457" y="212485"/>
                  </a:cubicBezTo>
                  <a:cubicBezTo>
                    <a:pt x="13114" y="189142"/>
                    <a:pt x="0" y="157483"/>
                    <a:pt x="0" y="124471"/>
                  </a:cubicBezTo>
                  <a:lnTo>
                    <a:pt x="0" y="124471"/>
                  </a:lnTo>
                  <a:cubicBezTo>
                    <a:pt x="0" y="91459"/>
                    <a:pt x="13114" y="59800"/>
                    <a:pt x="36457" y="36457"/>
                  </a:cubicBezTo>
                  <a:cubicBezTo>
                    <a:pt x="59800" y="13114"/>
                    <a:pt x="91459" y="0"/>
                    <a:pt x="12447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231113" cy="3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27"/>
                </a:lnSpc>
              </a:pPr>
              <a:r>
                <a:rPr lang="en-US" b="true" sz="3090" u="sng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github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3327" y="1121844"/>
            <a:ext cx="5169077" cy="622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By: Mahmoud Elgendy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49656" y="6727944"/>
            <a:ext cx="10188688" cy="848821"/>
            <a:chOff x="0" y="0"/>
            <a:chExt cx="2683440" cy="2235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83440" cy="223558"/>
            </a:xfrm>
            <a:custGeom>
              <a:avLst/>
              <a:gdLst/>
              <a:ahLst/>
              <a:cxnLst/>
              <a:rect r="r" b="b" t="t" l="l"/>
              <a:pathLst>
                <a:path h="223558" w="2683440">
                  <a:moveTo>
                    <a:pt x="66107" y="0"/>
                  </a:moveTo>
                  <a:lnTo>
                    <a:pt x="2617333" y="0"/>
                  </a:lnTo>
                  <a:cubicBezTo>
                    <a:pt x="2653843" y="0"/>
                    <a:pt x="2683440" y="29597"/>
                    <a:pt x="2683440" y="66107"/>
                  </a:cubicBezTo>
                  <a:lnTo>
                    <a:pt x="2683440" y="157450"/>
                  </a:lnTo>
                  <a:cubicBezTo>
                    <a:pt x="2683440" y="193961"/>
                    <a:pt x="2653843" y="223558"/>
                    <a:pt x="2617333" y="223558"/>
                  </a:cubicBezTo>
                  <a:lnTo>
                    <a:pt x="66107" y="223558"/>
                  </a:lnTo>
                  <a:cubicBezTo>
                    <a:pt x="29597" y="223558"/>
                    <a:pt x="0" y="193961"/>
                    <a:pt x="0" y="157450"/>
                  </a:cubicBezTo>
                  <a:lnTo>
                    <a:pt x="0" y="66107"/>
                  </a:lnTo>
                  <a:cubicBezTo>
                    <a:pt x="0" y="29597"/>
                    <a:pt x="29597" y="0"/>
                    <a:pt x="6610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2683440" cy="29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b="true" sz="3399" spc="-67">
                  <a:solidFill>
                    <a:srgbClr val="FFFFFF"/>
                  </a:solidFill>
                  <a:latin typeface="Inter Ultra-Bold"/>
                  <a:ea typeface="Inter Ultra-Bold"/>
                  <a:cs typeface="Inter Ultra-Bold"/>
                  <a:sym typeface="Inter Ultra-Bold"/>
                </a:rPr>
                <a:t>Next-Generation Network Intrusion Prevention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-9378291">
            <a:off x="14710706" y="6781997"/>
            <a:ext cx="6203238" cy="62032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28200" y="7399491"/>
            <a:ext cx="4968251" cy="4968251"/>
            <a:chOff x="0" y="0"/>
            <a:chExt cx="6624335" cy="662433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grpSp>
        <p:nvGrpSpPr>
          <p:cNvPr name="Group 19" id="19"/>
          <p:cNvGrpSpPr/>
          <p:nvPr/>
        </p:nvGrpSpPr>
        <p:grpSpPr>
          <a:xfrm rot="-9378291">
            <a:off x="-2579987" y="-2714657"/>
            <a:ext cx="6203238" cy="620323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1962493" y="-2097163"/>
            <a:ext cx="4968251" cy="4968251"/>
            <a:chOff x="0" y="0"/>
            <a:chExt cx="6624335" cy="662433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29" id="29"/>
          <p:cNvSpPr txBox="true"/>
          <p:nvPr/>
        </p:nvSpPr>
        <p:spPr>
          <a:xfrm rot="0">
            <a:off x="3470047" y="2771700"/>
            <a:ext cx="11347906" cy="350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51"/>
              </a:lnSpc>
            </a:pPr>
            <a:r>
              <a:rPr lang="en-US" b="true" sz="14512" spc="-78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PACKETLENS NIPS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79423" y="1192065"/>
            <a:ext cx="5679877" cy="7902869"/>
            <a:chOff x="0" y="0"/>
            <a:chExt cx="390280" cy="5430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0280" cy="543028"/>
            </a:xfrm>
            <a:custGeom>
              <a:avLst/>
              <a:gdLst/>
              <a:ahLst/>
              <a:cxnLst/>
              <a:rect r="r" b="b" t="t" l="l"/>
              <a:pathLst>
                <a:path h="543028" w="390280">
                  <a:moveTo>
                    <a:pt x="136304" y="0"/>
                  </a:moveTo>
                  <a:lnTo>
                    <a:pt x="253975" y="0"/>
                  </a:lnTo>
                  <a:cubicBezTo>
                    <a:pt x="290126" y="0"/>
                    <a:pt x="324795" y="14361"/>
                    <a:pt x="350357" y="39923"/>
                  </a:cubicBezTo>
                  <a:cubicBezTo>
                    <a:pt x="375919" y="65485"/>
                    <a:pt x="390280" y="100154"/>
                    <a:pt x="390280" y="136304"/>
                  </a:cubicBezTo>
                  <a:lnTo>
                    <a:pt x="390280" y="406723"/>
                  </a:lnTo>
                  <a:cubicBezTo>
                    <a:pt x="390280" y="442873"/>
                    <a:pt x="375919" y="477543"/>
                    <a:pt x="350357" y="503105"/>
                  </a:cubicBezTo>
                  <a:cubicBezTo>
                    <a:pt x="324795" y="528667"/>
                    <a:pt x="290126" y="543028"/>
                    <a:pt x="253975" y="543028"/>
                  </a:cubicBezTo>
                  <a:lnTo>
                    <a:pt x="136304" y="543028"/>
                  </a:lnTo>
                  <a:cubicBezTo>
                    <a:pt x="100154" y="543028"/>
                    <a:pt x="65485" y="528667"/>
                    <a:pt x="39923" y="503105"/>
                  </a:cubicBezTo>
                  <a:cubicBezTo>
                    <a:pt x="14361" y="477543"/>
                    <a:pt x="0" y="442873"/>
                    <a:pt x="0" y="406723"/>
                  </a:cubicBezTo>
                  <a:lnTo>
                    <a:pt x="0" y="136304"/>
                  </a:lnTo>
                  <a:cubicBezTo>
                    <a:pt x="0" y="100154"/>
                    <a:pt x="14361" y="65485"/>
                    <a:pt x="39923" y="39923"/>
                  </a:cubicBezTo>
                  <a:cubicBezTo>
                    <a:pt x="65485" y="14361"/>
                    <a:pt x="100154" y="0"/>
                    <a:pt x="1363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90280" cy="590653"/>
            </a:xfrm>
            <a:prstGeom prst="rect">
              <a:avLst/>
            </a:prstGeom>
          </p:spPr>
          <p:txBody>
            <a:bodyPr anchor="ctr" rtlCol="false" tIns="63943" lIns="63943" bIns="63943" rIns="6394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23349" y="1485779"/>
            <a:ext cx="4992024" cy="7315442"/>
            <a:chOff x="0" y="0"/>
            <a:chExt cx="694069" cy="10171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4069" cy="1017107"/>
            </a:xfrm>
            <a:custGeom>
              <a:avLst/>
              <a:gdLst/>
              <a:ahLst/>
              <a:cxnLst/>
              <a:rect r="r" b="b" t="t" l="l"/>
              <a:pathLst>
                <a:path h="1017107" w="694069">
                  <a:moveTo>
                    <a:pt x="155086" y="0"/>
                  </a:moveTo>
                  <a:lnTo>
                    <a:pt x="538983" y="0"/>
                  </a:lnTo>
                  <a:cubicBezTo>
                    <a:pt x="624635" y="0"/>
                    <a:pt x="694069" y="69434"/>
                    <a:pt x="694069" y="155086"/>
                  </a:cubicBezTo>
                  <a:lnTo>
                    <a:pt x="694069" y="862021"/>
                  </a:lnTo>
                  <a:cubicBezTo>
                    <a:pt x="694069" y="903152"/>
                    <a:pt x="677729" y="942599"/>
                    <a:pt x="648645" y="971683"/>
                  </a:cubicBezTo>
                  <a:cubicBezTo>
                    <a:pt x="619561" y="1000767"/>
                    <a:pt x="580114" y="1017107"/>
                    <a:pt x="538983" y="1017107"/>
                  </a:cubicBezTo>
                  <a:lnTo>
                    <a:pt x="155086" y="1017107"/>
                  </a:lnTo>
                  <a:cubicBezTo>
                    <a:pt x="113954" y="1017107"/>
                    <a:pt x="74508" y="1000767"/>
                    <a:pt x="45424" y="971683"/>
                  </a:cubicBezTo>
                  <a:cubicBezTo>
                    <a:pt x="16339" y="942599"/>
                    <a:pt x="0" y="903152"/>
                    <a:pt x="0" y="862021"/>
                  </a:cubicBezTo>
                  <a:lnTo>
                    <a:pt x="0" y="155086"/>
                  </a:lnTo>
                  <a:cubicBezTo>
                    <a:pt x="0" y="113954"/>
                    <a:pt x="16339" y="74508"/>
                    <a:pt x="45424" y="45424"/>
                  </a:cubicBezTo>
                  <a:cubicBezTo>
                    <a:pt x="74508" y="16339"/>
                    <a:pt x="113954" y="0"/>
                    <a:pt x="155086" y="0"/>
                  </a:cubicBezTo>
                  <a:close/>
                </a:path>
              </a:pathLst>
            </a:custGeom>
            <a:blipFill>
              <a:blip r:embed="rId2"/>
              <a:stretch>
                <a:fillRect l="-72522" t="0" r="-47291" b="0"/>
              </a:stretch>
            </a:blipFill>
            <a:ln w="104775" cap="rnd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42546" y="590662"/>
            <a:ext cx="8110402" cy="135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7"/>
              </a:lnSpc>
            </a:pPr>
            <a:r>
              <a:rPr lang="en-US" b="true" sz="5606" spc="-30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PROBLEM &amp; IMPACT</a:t>
            </a:r>
          </a:p>
          <a:p>
            <a:pPr algn="l">
              <a:lnSpc>
                <a:spcPts val="515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2546" y="2209067"/>
            <a:ext cx="9013263" cy="49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9945" indent="-429972" lvl="1">
              <a:lnSpc>
                <a:spcPts val="3664"/>
              </a:lnSpc>
              <a:buFont typeface="Arial"/>
              <a:buChar char="•"/>
            </a:pPr>
            <a:r>
              <a:rPr lang="en-US" b="true" sz="3983" spc="-21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LEGACY SIGNATURES ARE FAILING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4153" y="2657408"/>
            <a:ext cx="8049847" cy="1717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0"/>
              </a:lnSpc>
              <a:spcBef>
                <a:spcPct val="0"/>
              </a:spcBef>
            </a:pPr>
            <a:r>
              <a:rPr lang="en-US" sz="244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Traditional IDS/IPS rely on static signatures (e.g., Snort). They cannot detect zero-day attacks, polymorphic malware, or slow-rate application layer DoS without exact matches.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2546" y="5248275"/>
            <a:ext cx="8115300" cy="951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9945" indent="-429972" lvl="1">
              <a:lnSpc>
                <a:spcPts val="3664"/>
              </a:lnSpc>
              <a:buFont typeface="Arial"/>
              <a:buChar char="•"/>
            </a:pPr>
            <a:r>
              <a:rPr lang="en-US" b="true" sz="3983" spc="-215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Inter Bold"/>
                <a:ea typeface="Inter Bold"/>
                <a:cs typeface="Inter Bold"/>
                <a:sym typeface="Inter Bold"/>
              </a:rPr>
              <a:t>THE PACKETLENS IMPACT</a:t>
            </a:r>
          </a:p>
          <a:p>
            <a:pPr algn="l">
              <a:lnSpc>
                <a:spcPts val="366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94153" y="5814875"/>
            <a:ext cx="8361656" cy="1244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8"/>
              </a:lnSpc>
              <a:spcBef>
                <a:spcPct val="0"/>
              </a:spcBef>
            </a:pPr>
            <a:r>
              <a:rPr lang="en-US" sz="23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transition from Signature-based to </a:t>
            </a:r>
            <a:r>
              <a:rPr lang="en-US" sz="2384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Behavioral AI</a:t>
            </a:r>
            <a:r>
              <a:rPr lang="en-US" sz="23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By analyzing flow statistics, PacketLens detects the intent of the traffic, catching 33 distinct attack classes.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2354" y="7882914"/>
            <a:ext cx="8256538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100,000+ PPS: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 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Line-rate processing without dropping packets.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O(1) Memory: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Online variance calculation prevents RAM explosion during DDoS.</a:t>
            </a:r>
          </a:p>
          <a:p>
            <a:pPr algn="l" marL="431804" indent="-215902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Actionable UI: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SOC analysts see prioritized incident streams, not just raw logs.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898974" y="898118"/>
            <a:ext cx="10690564" cy="5839721"/>
          </a:xfrm>
          <a:custGeom>
            <a:avLst/>
            <a:gdLst/>
            <a:ahLst/>
            <a:cxnLst/>
            <a:rect r="r" b="b" t="t" l="l"/>
            <a:pathLst>
              <a:path h="5839721" w="10690564">
                <a:moveTo>
                  <a:pt x="0" y="0"/>
                </a:moveTo>
                <a:lnTo>
                  <a:pt x="10690564" y="0"/>
                </a:lnTo>
                <a:lnTo>
                  <a:pt x="10690564" y="5839720"/>
                </a:lnTo>
                <a:lnTo>
                  <a:pt x="0" y="5839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8392" y="3820160"/>
            <a:ext cx="7430547" cy="286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SOC DASHBOARD EXPERIENCE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4873" y="7046065"/>
            <a:ext cx="10998765" cy="252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18862" indent="-309431" lvl="1">
              <a:lnSpc>
                <a:spcPts val="4012"/>
              </a:lnSpc>
              <a:spcBef>
                <a:spcPct val="0"/>
              </a:spcBef>
              <a:buFont typeface="Arial"/>
              <a:buChar char="•"/>
            </a:pPr>
            <a:r>
              <a:rPr lang="en-US" sz="28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8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eal-time incident streaming via </a:t>
            </a:r>
            <a:r>
              <a:rPr lang="en-US" sz="2866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Server-Sent Events (SSE)</a:t>
            </a:r>
            <a:r>
              <a:rPr lang="en-US" sz="28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just" marL="618862" indent="-309431" lvl="1">
              <a:lnSpc>
                <a:spcPts val="4012"/>
              </a:lnSpc>
              <a:spcBef>
                <a:spcPct val="0"/>
              </a:spcBef>
              <a:buFont typeface="Arial"/>
              <a:buChar char="•"/>
            </a:pPr>
            <a:r>
              <a:rPr lang="en-US" sz="28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Virtualization renders 10k+ rows instantly without lag.</a:t>
            </a:r>
          </a:p>
          <a:p>
            <a:pPr algn="just" marL="618862" indent="-309431" lvl="1">
              <a:lnSpc>
                <a:spcPts val="4012"/>
              </a:lnSpc>
              <a:spcBef>
                <a:spcPct val="0"/>
              </a:spcBef>
              <a:buFont typeface="Arial"/>
              <a:buChar char="•"/>
            </a:pPr>
            <a:r>
              <a:rPr lang="en-US" sz="28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Dynamic charts using Recharts for traffic telemetry.</a:t>
            </a:r>
          </a:p>
          <a:p>
            <a:pPr algn="just" marL="618862" indent="-309431" lvl="1">
              <a:lnSpc>
                <a:spcPts val="4012"/>
              </a:lnSpc>
              <a:spcBef>
                <a:spcPct val="0"/>
              </a:spcBef>
              <a:buFont typeface="Arial"/>
              <a:buChar char="•"/>
            </a:pPr>
            <a:r>
              <a:rPr lang="en-US" sz="286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Protected by Next.js Edge Middleware and JWT auth.</a:t>
            </a:r>
          </a:p>
          <a:p>
            <a:pPr algn="just">
              <a:lnSpc>
                <a:spcPts val="40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58136" y="622029"/>
            <a:ext cx="7295380" cy="9042943"/>
          </a:xfrm>
          <a:custGeom>
            <a:avLst/>
            <a:gdLst/>
            <a:ahLst/>
            <a:cxnLst/>
            <a:rect r="r" b="b" t="t" l="l"/>
            <a:pathLst>
              <a:path h="9042943" w="7295380">
                <a:moveTo>
                  <a:pt x="0" y="0"/>
                </a:moveTo>
                <a:lnTo>
                  <a:pt x="7295381" y="0"/>
                </a:lnTo>
                <a:lnTo>
                  <a:pt x="7295381" y="9042942"/>
                </a:lnTo>
                <a:lnTo>
                  <a:pt x="0" y="9042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519506"/>
            <a:ext cx="7430547" cy="286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AUTOMATED THREAT ALERTING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16522" y="4973169"/>
            <a:ext cx="9798349" cy="307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1182" indent="-270591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Critical events bypass the dashboard and go straight to SecOps via Telegram.</a:t>
            </a:r>
          </a:p>
          <a:p>
            <a:pPr algn="just" marL="541182" indent="-270591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Buffered via a non-blocking Go channel </a:t>
            </a:r>
            <a:r>
              <a:rPr lang="en-US" sz="2506">
                <a:solidFill>
                  <a:srgbClr val="FFDE59"/>
                </a:solidFill>
                <a:latin typeface="Arimo"/>
                <a:ea typeface="Arimo"/>
                <a:cs typeface="Arimo"/>
                <a:sym typeface="Arimo"/>
              </a:rPr>
              <a:t>(cap: 10,000)</a:t>
            </a: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to survive DDoS floods without blocking the capture thread.</a:t>
            </a:r>
          </a:p>
          <a:p>
            <a:pPr algn="just" marL="541182" indent="-270591" lvl="1">
              <a:lnSpc>
                <a:spcPts val="3509"/>
              </a:lnSpc>
              <a:spcBef>
                <a:spcPct val="0"/>
              </a:spcBef>
              <a:buFont typeface="Arial"/>
              <a:buChar char="•"/>
            </a:pPr>
            <a:r>
              <a:rPr lang="en-US" sz="250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Contains actionable context: Attacker IP, Target, Confidence, and Attack Type.</a:t>
            </a:r>
          </a:p>
          <a:p>
            <a:pPr algn="just">
              <a:lnSpc>
                <a:spcPts val="350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981" y="413957"/>
            <a:ext cx="17804230" cy="9810778"/>
            <a:chOff x="0" y="0"/>
            <a:chExt cx="4689180" cy="258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9180" cy="2583909"/>
            </a:xfrm>
            <a:custGeom>
              <a:avLst/>
              <a:gdLst/>
              <a:ahLst/>
              <a:cxnLst/>
              <a:rect r="r" b="b" t="t" l="l"/>
              <a:pathLst>
                <a:path h="2583909" w="4689180">
                  <a:moveTo>
                    <a:pt x="38700" y="0"/>
                  </a:moveTo>
                  <a:lnTo>
                    <a:pt x="4650480" y="0"/>
                  </a:lnTo>
                  <a:cubicBezTo>
                    <a:pt x="4671853" y="0"/>
                    <a:pt x="4689180" y="17327"/>
                    <a:pt x="4689180" y="38700"/>
                  </a:cubicBezTo>
                  <a:lnTo>
                    <a:pt x="4689180" y="2545208"/>
                  </a:lnTo>
                  <a:cubicBezTo>
                    <a:pt x="4689180" y="2566582"/>
                    <a:pt x="4671853" y="2583909"/>
                    <a:pt x="4650480" y="2583909"/>
                  </a:cubicBezTo>
                  <a:lnTo>
                    <a:pt x="38700" y="2583909"/>
                  </a:lnTo>
                  <a:cubicBezTo>
                    <a:pt x="28436" y="2583909"/>
                    <a:pt x="18593" y="2579831"/>
                    <a:pt x="11335" y="2572573"/>
                  </a:cubicBezTo>
                  <a:cubicBezTo>
                    <a:pt x="4077" y="2565316"/>
                    <a:pt x="0" y="2555472"/>
                    <a:pt x="0" y="2545208"/>
                  </a:cubicBezTo>
                  <a:lnTo>
                    <a:pt x="0" y="38700"/>
                  </a:lnTo>
                  <a:cubicBezTo>
                    <a:pt x="0" y="17327"/>
                    <a:pt x="17327" y="0"/>
                    <a:pt x="38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89180" cy="2612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36266" y="3720320"/>
            <a:ext cx="5395958" cy="4356654"/>
            <a:chOff x="0" y="0"/>
            <a:chExt cx="370771" cy="29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771" cy="299358"/>
            </a:xfrm>
            <a:custGeom>
              <a:avLst/>
              <a:gdLst/>
              <a:ahLst/>
              <a:cxnLst/>
              <a:rect r="r" b="b" t="t" l="l"/>
              <a:pathLst>
                <a:path h="299358" w="370771">
                  <a:moveTo>
                    <a:pt x="143476" y="0"/>
                  </a:moveTo>
                  <a:lnTo>
                    <a:pt x="227295" y="0"/>
                  </a:lnTo>
                  <a:cubicBezTo>
                    <a:pt x="265347" y="0"/>
                    <a:pt x="301841" y="15116"/>
                    <a:pt x="328748" y="42023"/>
                  </a:cubicBezTo>
                  <a:cubicBezTo>
                    <a:pt x="355655" y="68930"/>
                    <a:pt x="370771" y="105424"/>
                    <a:pt x="370771" y="143476"/>
                  </a:cubicBezTo>
                  <a:lnTo>
                    <a:pt x="370771" y="155881"/>
                  </a:lnTo>
                  <a:cubicBezTo>
                    <a:pt x="370771" y="193934"/>
                    <a:pt x="355655" y="230427"/>
                    <a:pt x="328748" y="257334"/>
                  </a:cubicBezTo>
                  <a:cubicBezTo>
                    <a:pt x="301841" y="284241"/>
                    <a:pt x="265347" y="299358"/>
                    <a:pt x="227295" y="299358"/>
                  </a:cubicBezTo>
                  <a:lnTo>
                    <a:pt x="143476" y="299358"/>
                  </a:lnTo>
                  <a:cubicBezTo>
                    <a:pt x="105424" y="299358"/>
                    <a:pt x="68930" y="284241"/>
                    <a:pt x="42023" y="257334"/>
                  </a:cubicBezTo>
                  <a:cubicBezTo>
                    <a:pt x="15116" y="230427"/>
                    <a:pt x="0" y="193934"/>
                    <a:pt x="0" y="155881"/>
                  </a:cubicBezTo>
                  <a:lnTo>
                    <a:pt x="0" y="143476"/>
                  </a:lnTo>
                  <a:cubicBezTo>
                    <a:pt x="0" y="105424"/>
                    <a:pt x="15116" y="68930"/>
                    <a:pt x="42023" y="42023"/>
                  </a:cubicBezTo>
                  <a:cubicBezTo>
                    <a:pt x="68930" y="15116"/>
                    <a:pt x="105424" y="0"/>
                    <a:pt x="1434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DE0E6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70771" cy="346983"/>
            </a:xfrm>
            <a:prstGeom prst="rect">
              <a:avLst/>
            </a:prstGeom>
          </p:spPr>
          <p:txBody>
            <a:bodyPr anchor="ctr" rtlCol="false" tIns="63943" lIns="63943" bIns="63943" rIns="63943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839083" y="1917467"/>
            <a:ext cx="14609835" cy="7962360"/>
          </a:xfrm>
          <a:custGeom>
            <a:avLst/>
            <a:gdLst/>
            <a:ahLst/>
            <a:cxnLst/>
            <a:rect r="r" b="b" t="t" l="l"/>
            <a:pathLst>
              <a:path h="7962360" w="14609835">
                <a:moveTo>
                  <a:pt x="0" y="0"/>
                </a:moveTo>
                <a:lnTo>
                  <a:pt x="14609834" y="0"/>
                </a:lnTo>
                <a:lnTo>
                  <a:pt x="14609834" y="7962360"/>
                </a:lnTo>
                <a:lnTo>
                  <a:pt x="0" y="796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30976" y="963118"/>
            <a:ext cx="13226048" cy="144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93"/>
              </a:lnSpc>
            </a:pPr>
            <a:r>
              <a:rPr lang="en-US" b="true" sz="5971" spc="-32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MICROSERVICES  ARCHITECTURE</a:t>
            </a:r>
          </a:p>
          <a:p>
            <a:pPr algn="ctr">
              <a:lnSpc>
                <a:spcPts val="549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97" y="135534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069047"/>
            <a:chOff x="0" y="0"/>
            <a:chExt cx="10734114" cy="54253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PREPROCESSING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293634"/>
              <a:ext cx="7776488" cy="1131762"/>
              <a:chOff x="0" y="0"/>
              <a:chExt cx="1536096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36096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536096">
                    <a:moveTo>
                      <a:pt x="111779" y="0"/>
                    </a:moveTo>
                    <a:lnTo>
                      <a:pt x="1424318" y="0"/>
                    </a:lnTo>
                    <a:cubicBezTo>
                      <a:pt x="1486051" y="0"/>
                      <a:pt x="1536096" y="50045"/>
                      <a:pt x="1536096" y="111779"/>
                    </a:cubicBezTo>
                    <a:lnTo>
                      <a:pt x="1536096" y="111779"/>
                    </a:lnTo>
                    <a:cubicBezTo>
                      <a:pt x="1536096" y="173513"/>
                      <a:pt x="1486051" y="223558"/>
                      <a:pt x="1424318" y="223558"/>
                    </a:cubicBezTo>
                    <a:lnTo>
                      <a:pt x="111779" y="223558"/>
                    </a:lnTo>
                    <a:cubicBezTo>
                      <a:pt x="50045" y="223558"/>
                      <a:pt x="0" y="173513"/>
                      <a:pt x="0" y="111779"/>
                    </a:cubicBezTo>
                    <a:lnTo>
                      <a:pt x="0" y="111779"/>
                    </a:lnTo>
                    <a:cubicBezTo>
                      <a:pt x="0" y="50045"/>
                      <a:pt x="50045" y="0"/>
                      <a:pt x="111779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536096" cy="280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1 — Load &amp; Basic Cleaning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4856168"/>
            <a:ext cx="14808696" cy="305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Standardize column names: strip whitespace, lowercase, replace spaces with _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Drop identity/metadata columns that would leak info:</a:t>
            </a:r>
          </a:p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flow_id, source_ip, src_ip, source_port destination_ip, dst_ip, timestamp, date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Replace ±inf → NaN, then dropna() to remove rows with infinite or missing values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97" y="135534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069047"/>
            <a:chOff x="0" y="0"/>
            <a:chExt cx="10734114" cy="54253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PREPROCESSING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293634"/>
              <a:ext cx="7776488" cy="1131762"/>
              <a:chOff x="0" y="0"/>
              <a:chExt cx="1536096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36096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536096">
                    <a:moveTo>
                      <a:pt x="111779" y="0"/>
                    </a:moveTo>
                    <a:lnTo>
                      <a:pt x="1424318" y="0"/>
                    </a:lnTo>
                    <a:cubicBezTo>
                      <a:pt x="1486051" y="0"/>
                      <a:pt x="1536096" y="50045"/>
                      <a:pt x="1536096" y="111779"/>
                    </a:cubicBezTo>
                    <a:lnTo>
                      <a:pt x="1536096" y="111779"/>
                    </a:lnTo>
                    <a:cubicBezTo>
                      <a:pt x="1536096" y="173513"/>
                      <a:pt x="1486051" y="223558"/>
                      <a:pt x="1424318" y="223558"/>
                    </a:cubicBezTo>
                    <a:lnTo>
                      <a:pt x="111779" y="223558"/>
                    </a:lnTo>
                    <a:cubicBezTo>
                      <a:pt x="50045" y="223558"/>
                      <a:pt x="0" y="173513"/>
                      <a:pt x="0" y="111779"/>
                    </a:cubicBezTo>
                    <a:lnTo>
                      <a:pt x="0" y="111779"/>
                    </a:lnTo>
                    <a:cubicBezTo>
                      <a:pt x="0" y="50045"/>
                      <a:pt x="50045" y="0"/>
                      <a:pt x="111779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536096" cy="280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2 — Label Encoding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4856168"/>
            <a:ext cx="15723989" cy="254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aps every attack class string (e.g., "DDoS", "PortScan", "BENIGN") → a stable integer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Drops the original string label column — only label_encoded remains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aves label_mapping.json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97" y="135534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069047"/>
            <a:chOff x="0" y="0"/>
            <a:chExt cx="10734114" cy="54253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PREPROCESSING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293634"/>
              <a:ext cx="7776488" cy="1131762"/>
              <a:chOff x="0" y="0"/>
              <a:chExt cx="1536096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36096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536096">
                    <a:moveTo>
                      <a:pt x="111779" y="0"/>
                    </a:moveTo>
                    <a:lnTo>
                      <a:pt x="1424318" y="0"/>
                    </a:lnTo>
                    <a:cubicBezTo>
                      <a:pt x="1486051" y="0"/>
                      <a:pt x="1536096" y="50045"/>
                      <a:pt x="1536096" y="111779"/>
                    </a:cubicBezTo>
                    <a:lnTo>
                      <a:pt x="1536096" y="111779"/>
                    </a:lnTo>
                    <a:cubicBezTo>
                      <a:pt x="1536096" y="173513"/>
                      <a:pt x="1486051" y="223558"/>
                      <a:pt x="1424318" y="223558"/>
                    </a:cubicBezTo>
                    <a:lnTo>
                      <a:pt x="111779" y="223558"/>
                    </a:lnTo>
                    <a:cubicBezTo>
                      <a:pt x="50045" y="223558"/>
                      <a:pt x="0" y="173513"/>
                      <a:pt x="0" y="111779"/>
                    </a:cubicBezTo>
                    <a:lnTo>
                      <a:pt x="0" y="111779"/>
                    </a:lnTo>
                    <a:cubicBezTo>
                      <a:pt x="0" y="50045"/>
                      <a:pt x="50045" y="0"/>
                      <a:pt x="111779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536096" cy="280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3 — Feature Engineering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4885476"/>
            <a:ext cx="11414820" cy="4602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Remove physically impossible negative values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Remove zero-variance columns (original notebook only)</a:t>
            </a:r>
          </a:p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Columns with nunique() &lt;= 1 carry no information — dropped.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Drop known redund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ant / highly correlated columns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Save feature_map.json (original notebook, Cell 5)</a:t>
            </a:r>
          </a:p>
          <a:p>
            <a:pPr algn="l">
              <a:lnSpc>
                <a:spcPts val="4081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97" y="135534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069047"/>
            <a:chOff x="0" y="0"/>
            <a:chExt cx="10734114" cy="54253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PREPROCESSING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293634"/>
              <a:ext cx="7776488" cy="1131762"/>
              <a:chOff x="0" y="0"/>
              <a:chExt cx="1536096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36096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536096">
                    <a:moveTo>
                      <a:pt x="111779" y="0"/>
                    </a:moveTo>
                    <a:lnTo>
                      <a:pt x="1424318" y="0"/>
                    </a:lnTo>
                    <a:cubicBezTo>
                      <a:pt x="1486051" y="0"/>
                      <a:pt x="1536096" y="50045"/>
                      <a:pt x="1536096" y="111779"/>
                    </a:cubicBezTo>
                    <a:lnTo>
                      <a:pt x="1536096" y="111779"/>
                    </a:lnTo>
                    <a:cubicBezTo>
                      <a:pt x="1536096" y="173513"/>
                      <a:pt x="1486051" y="223558"/>
                      <a:pt x="1424318" y="223558"/>
                    </a:cubicBezTo>
                    <a:lnTo>
                      <a:pt x="111779" y="223558"/>
                    </a:lnTo>
                    <a:cubicBezTo>
                      <a:pt x="50045" y="223558"/>
                      <a:pt x="0" y="173513"/>
                      <a:pt x="0" y="111779"/>
                    </a:cubicBezTo>
                    <a:lnTo>
                      <a:pt x="0" y="111779"/>
                    </a:lnTo>
                    <a:cubicBezTo>
                      <a:pt x="0" y="50045"/>
                      <a:pt x="50045" y="0"/>
                      <a:pt x="111779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536096" cy="280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4 — Log-Transform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4885476"/>
            <a:ext cx="16469655" cy="305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18 f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eatures that follow Power-Law (Pareto) distributions get log1p applied.</a:t>
            </a:r>
          </a:p>
          <a:p>
            <a:pPr algn="l">
              <a:lnSpc>
                <a:spcPts val="4081"/>
              </a:lnSpc>
            </a:pPr>
          </a:p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Why: These features span 6+ orders of magnitude. StandardScaler on raw values compresses 99% of normal traffic to near-zero. log1p(x) = ln(1+x) brings the range from [0, 1e6] down to [0, ~14], making the distribution log-normal and suitable for IQR-based scaling.</a:t>
            </a:r>
          </a:p>
          <a:p>
            <a:pPr algn="l">
              <a:lnSpc>
                <a:spcPts val="408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97" y="135534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069047"/>
            <a:chOff x="0" y="0"/>
            <a:chExt cx="10734114" cy="54253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PREPROCESSING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293634"/>
              <a:ext cx="7776488" cy="1131762"/>
              <a:chOff x="0" y="0"/>
              <a:chExt cx="1536096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36096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536096">
                    <a:moveTo>
                      <a:pt x="111779" y="0"/>
                    </a:moveTo>
                    <a:lnTo>
                      <a:pt x="1424318" y="0"/>
                    </a:lnTo>
                    <a:cubicBezTo>
                      <a:pt x="1486051" y="0"/>
                      <a:pt x="1536096" y="50045"/>
                      <a:pt x="1536096" y="111779"/>
                    </a:cubicBezTo>
                    <a:lnTo>
                      <a:pt x="1536096" y="111779"/>
                    </a:lnTo>
                    <a:cubicBezTo>
                      <a:pt x="1536096" y="173513"/>
                      <a:pt x="1486051" y="223558"/>
                      <a:pt x="1424318" y="223558"/>
                    </a:cubicBezTo>
                    <a:lnTo>
                      <a:pt x="111779" y="223558"/>
                    </a:lnTo>
                    <a:cubicBezTo>
                      <a:pt x="50045" y="223558"/>
                      <a:pt x="0" y="173513"/>
                      <a:pt x="0" y="111779"/>
                    </a:cubicBezTo>
                    <a:lnTo>
                      <a:pt x="0" y="111779"/>
                    </a:lnTo>
                    <a:cubicBezTo>
                      <a:pt x="0" y="50045"/>
                      <a:pt x="50045" y="0"/>
                      <a:pt x="111779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536096" cy="280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5 — Outlier Clipping 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5193206"/>
            <a:ext cx="16469655" cy="254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Why: DDoS 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attacks produce extreme outliers (e.g., 1e6 packets/s) that dominate scaler statistics. Without clipping, gradient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magnitudes vary by 6 orders of magnitude → training instability.</a:t>
            </a:r>
          </a:p>
          <a:p>
            <a:pPr algn="l">
              <a:lnSpc>
                <a:spcPts val="4081"/>
              </a:lnSpc>
            </a:pPr>
          </a:p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Bounds are computed only from training data and applied to test — no data leakage.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069047"/>
            <a:chOff x="0" y="0"/>
            <a:chExt cx="10734114" cy="54253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PREPROCESSING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293634"/>
              <a:ext cx="7776488" cy="1131762"/>
              <a:chOff x="0" y="0"/>
              <a:chExt cx="1536096" cy="22355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536096" cy="223558"/>
              </a:xfrm>
              <a:custGeom>
                <a:avLst/>
                <a:gdLst/>
                <a:ahLst/>
                <a:cxnLst/>
                <a:rect r="r" b="b" t="t" l="l"/>
                <a:pathLst>
                  <a:path h="223558" w="1536096">
                    <a:moveTo>
                      <a:pt x="111779" y="0"/>
                    </a:moveTo>
                    <a:lnTo>
                      <a:pt x="1424318" y="0"/>
                    </a:lnTo>
                    <a:cubicBezTo>
                      <a:pt x="1486051" y="0"/>
                      <a:pt x="1536096" y="50045"/>
                      <a:pt x="1536096" y="111779"/>
                    </a:cubicBezTo>
                    <a:lnTo>
                      <a:pt x="1536096" y="111779"/>
                    </a:lnTo>
                    <a:cubicBezTo>
                      <a:pt x="1536096" y="173513"/>
                      <a:pt x="1486051" y="223558"/>
                      <a:pt x="1424318" y="223558"/>
                    </a:cubicBezTo>
                    <a:lnTo>
                      <a:pt x="111779" y="223558"/>
                    </a:lnTo>
                    <a:cubicBezTo>
                      <a:pt x="50045" y="223558"/>
                      <a:pt x="0" y="173513"/>
                      <a:pt x="0" y="111779"/>
                    </a:cubicBezTo>
                    <a:lnTo>
                      <a:pt x="0" y="111779"/>
                    </a:lnTo>
                    <a:cubicBezTo>
                      <a:pt x="0" y="50045"/>
                      <a:pt x="50045" y="0"/>
                      <a:pt x="111779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536096" cy="2807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6 — Class Weights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605403" y="5095875"/>
            <a:ext cx="16469655" cy="100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461" indent="-314730" lvl="1">
              <a:lnSpc>
                <a:spcPts val="4081"/>
              </a:lnSpc>
              <a:buFont typeface="Arial"/>
              <a:buChar char="•"/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</a:t>
            </a: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rmula: w_c =</a:t>
            </a:r>
            <a:r>
              <a:rPr lang="en-US" b="true" sz="291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n_samples / (n_classes × n_samples_c)</a:t>
            </a:r>
          </a:p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     Saved as class_weights.json: { "0": 0.64, "1": 4.2, ... 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9645" y="6751643"/>
            <a:ext cx="16846599" cy="128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b="true" sz="2457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Why</a:t>
            </a:r>
            <a:r>
              <a:rPr lang="en-US" sz="24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 With 78% Benign traffic, a naive model achieves 78% accuracy by predicting "Benign" for everything — useless for a NIDS. Balanced weights force each class to contribute equally to the loss, making the model learn rare attack patterns.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683496"/>
            <a:chOff x="0" y="0"/>
            <a:chExt cx="10734114" cy="6244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MODEL TRAINING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623834"/>
              <a:ext cx="9124642" cy="1620828"/>
              <a:chOff x="0" y="0"/>
              <a:chExt cx="1802398" cy="3201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802399" cy="320164"/>
              </a:xfrm>
              <a:custGeom>
                <a:avLst/>
                <a:gdLst/>
                <a:ahLst/>
                <a:cxnLst/>
                <a:rect r="r" b="b" t="t" l="l"/>
                <a:pathLst>
                  <a:path h="320164" w="1802399">
                    <a:moveTo>
                      <a:pt x="98422" y="0"/>
                    </a:moveTo>
                    <a:lnTo>
                      <a:pt x="1703977" y="0"/>
                    </a:lnTo>
                    <a:cubicBezTo>
                      <a:pt x="1758334" y="0"/>
                      <a:pt x="1802399" y="44065"/>
                      <a:pt x="1802399" y="98422"/>
                    </a:cubicBezTo>
                    <a:lnTo>
                      <a:pt x="1802399" y="221742"/>
                    </a:lnTo>
                    <a:cubicBezTo>
                      <a:pt x="1802399" y="276099"/>
                      <a:pt x="1758334" y="320164"/>
                      <a:pt x="1703977" y="320164"/>
                    </a:cubicBezTo>
                    <a:lnTo>
                      <a:pt x="98422" y="320164"/>
                    </a:lnTo>
                    <a:cubicBezTo>
                      <a:pt x="44065" y="320164"/>
                      <a:pt x="0" y="276099"/>
                      <a:pt x="0" y="221742"/>
                    </a:cubicBezTo>
                    <a:lnTo>
                      <a:pt x="0" y="98422"/>
                    </a:lnTo>
                    <a:cubicBezTo>
                      <a:pt x="0" y="44065"/>
                      <a:pt x="44065" y="0"/>
                      <a:pt x="98422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802398" cy="3773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1 — Compute Per-Sample Weights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5286258"/>
            <a:ext cx="16846599" cy="8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sz="2457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Why this </a:t>
            </a:r>
            <a:r>
              <a:rPr lang="en-US" sz="24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exists: class_weights.json stores one weight per class (e.g., class 20 → weight 23679). But XGBoost's sample_weight argument needs one weight per row of training data.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0700" y="6600639"/>
            <a:ext cx="16846599" cy="1280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sz="2457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Without this</a:t>
            </a:r>
            <a:r>
              <a:rPr lang="en-US" sz="24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, extremely rare classes (weight &gt; 1000) can cause gradient explosion — the loss for a handful of samples overwhelms everything else. Capping at 1000 keeps training stable while still heavily emphasizing rare attacks.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0700" y="8343644"/>
            <a:ext cx="16846599" cy="851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  <a:spcBef>
                <a:spcPct val="0"/>
              </a:spcBef>
            </a:pPr>
            <a:r>
              <a:rPr lang="en-US" sz="2457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Why not scale_pos_weight? </a:t>
            </a:r>
            <a:r>
              <a:rPr lang="en-US" sz="24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That XGBoost parameter only works for binary classification (one positive class vs. one negative class). With 33 attack types, sample_weight is the only correct approach.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9832866" cy="4683496"/>
            <a:chOff x="0" y="0"/>
            <a:chExt cx="13110488" cy="6244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MODEL TRAINING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623834"/>
              <a:ext cx="13110488" cy="1620828"/>
              <a:chOff x="0" y="0"/>
              <a:chExt cx="2589726" cy="3201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589726" cy="320164"/>
              </a:xfrm>
              <a:custGeom>
                <a:avLst/>
                <a:gdLst/>
                <a:ahLst/>
                <a:cxnLst/>
                <a:rect r="r" b="b" t="t" l="l"/>
                <a:pathLst>
                  <a:path h="320164" w="2589726">
                    <a:moveTo>
                      <a:pt x="68500" y="0"/>
                    </a:moveTo>
                    <a:lnTo>
                      <a:pt x="2521227" y="0"/>
                    </a:lnTo>
                    <a:cubicBezTo>
                      <a:pt x="2559058" y="0"/>
                      <a:pt x="2589726" y="30668"/>
                      <a:pt x="2589726" y="68500"/>
                    </a:cubicBezTo>
                    <a:lnTo>
                      <a:pt x="2589726" y="251664"/>
                    </a:lnTo>
                    <a:cubicBezTo>
                      <a:pt x="2589726" y="269831"/>
                      <a:pt x="2582509" y="287254"/>
                      <a:pt x="2569663" y="300100"/>
                    </a:cubicBezTo>
                    <a:cubicBezTo>
                      <a:pt x="2556817" y="312947"/>
                      <a:pt x="2539394" y="320164"/>
                      <a:pt x="2521227" y="320164"/>
                    </a:cubicBezTo>
                    <a:lnTo>
                      <a:pt x="68500" y="320164"/>
                    </a:lnTo>
                    <a:cubicBezTo>
                      <a:pt x="30668" y="320164"/>
                      <a:pt x="0" y="289495"/>
                      <a:pt x="0" y="251664"/>
                    </a:cubicBezTo>
                    <a:lnTo>
                      <a:pt x="0" y="68500"/>
                    </a:lnTo>
                    <a:cubicBezTo>
                      <a:pt x="0" y="30668"/>
                      <a:pt x="30668" y="0"/>
                      <a:pt x="68500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589726" cy="3773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2 — Temporal Validation Split (for Early Stopping)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789645" y="5295783"/>
            <a:ext cx="17102239" cy="3182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Why temporal (not random)?</a:t>
            </a:r>
          </a:p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data comes from a time-ordered capture. Using the last 10% as validation simulates what happens in production — the model trains on earlier traffic and is validated on later traffic. This gives a more realistic early stopping signal than a randomly shuffled validation set.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Both X_train and X_val slices also carry their sample_weights — w_train and w_val — so the weighted loss is consistent across both.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683496"/>
            <a:chOff x="0" y="0"/>
            <a:chExt cx="10734114" cy="6244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MODEL TRAINING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623834"/>
              <a:ext cx="10336027" cy="1620828"/>
              <a:chOff x="0" y="0"/>
              <a:chExt cx="2041684" cy="3201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41684" cy="320164"/>
              </a:xfrm>
              <a:custGeom>
                <a:avLst/>
                <a:gdLst/>
                <a:ahLst/>
                <a:cxnLst/>
                <a:rect r="r" b="b" t="t" l="l"/>
                <a:pathLst>
                  <a:path h="320164" w="2041684">
                    <a:moveTo>
                      <a:pt x="86887" y="0"/>
                    </a:moveTo>
                    <a:lnTo>
                      <a:pt x="1954798" y="0"/>
                    </a:lnTo>
                    <a:cubicBezTo>
                      <a:pt x="2002784" y="0"/>
                      <a:pt x="2041684" y="38900"/>
                      <a:pt x="2041684" y="86887"/>
                    </a:cubicBezTo>
                    <a:lnTo>
                      <a:pt x="2041684" y="233277"/>
                    </a:lnTo>
                    <a:cubicBezTo>
                      <a:pt x="2041684" y="281263"/>
                      <a:pt x="2002784" y="320164"/>
                      <a:pt x="1954798" y="320164"/>
                    </a:cubicBezTo>
                    <a:lnTo>
                      <a:pt x="86887" y="320164"/>
                    </a:lnTo>
                    <a:cubicBezTo>
                      <a:pt x="38900" y="320164"/>
                      <a:pt x="0" y="281263"/>
                      <a:pt x="0" y="233277"/>
                    </a:cubicBezTo>
                    <a:lnTo>
                      <a:pt x="0" y="86887"/>
                    </a:lnTo>
                    <a:cubicBezTo>
                      <a:pt x="0" y="38900"/>
                      <a:pt x="38900" y="0"/>
                      <a:pt x="86887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041684" cy="3773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3 — Train XGBoost (Native API)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92881" y="5294523"/>
            <a:ext cx="17102239" cy="181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Why the Native API instead of the sklearn wrapper?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sklearn wrapper (XGBClassifier) has strict label validation that fails when a temporal validation split drops label classes (e.g., if a rare attack appears in X_train but not in X_val). The native xgb.train() API handles this cleanly.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2881" y="7363478"/>
            <a:ext cx="17102239" cy="1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Early stopping logic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the validation mlogloss does not improve for 15 consecutive boosting rounds, training stops and the best iteration is retained. This model stopped at round 207, saving ~293 unnecessary trees.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9645" y="352592"/>
            <a:ext cx="8050585" cy="4683496"/>
            <a:chOff x="0" y="0"/>
            <a:chExt cx="10734114" cy="624466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MODEL TRAINING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623834"/>
              <a:ext cx="10336027" cy="1620828"/>
              <a:chOff x="0" y="0"/>
              <a:chExt cx="2041684" cy="3201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41684" cy="320164"/>
              </a:xfrm>
              <a:custGeom>
                <a:avLst/>
                <a:gdLst/>
                <a:ahLst/>
                <a:cxnLst/>
                <a:rect r="r" b="b" t="t" l="l"/>
                <a:pathLst>
                  <a:path h="320164" w="2041684">
                    <a:moveTo>
                      <a:pt x="86887" y="0"/>
                    </a:moveTo>
                    <a:lnTo>
                      <a:pt x="1954798" y="0"/>
                    </a:lnTo>
                    <a:cubicBezTo>
                      <a:pt x="2002784" y="0"/>
                      <a:pt x="2041684" y="38900"/>
                      <a:pt x="2041684" y="86887"/>
                    </a:cubicBezTo>
                    <a:lnTo>
                      <a:pt x="2041684" y="233277"/>
                    </a:lnTo>
                    <a:cubicBezTo>
                      <a:pt x="2041684" y="281263"/>
                      <a:pt x="2002784" y="320164"/>
                      <a:pt x="1954798" y="320164"/>
                    </a:cubicBezTo>
                    <a:lnTo>
                      <a:pt x="86887" y="320164"/>
                    </a:lnTo>
                    <a:cubicBezTo>
                      <a:pt x="38900" y="320164"/>
                      <a:pt x="0" y="281263"/>
                      <a:pt x="0" y="233277"/>
                    </a:cubicBezTo>
                    <a:lnTo>
                      <a:pt x="0" y="86887"/>
                    </a:lnTo>
                    <a:cubicBezTo>
                      <a:pt x="0" y="38900"/>
                      <a:pt x="38900" y="0"/>
                      <a:pt x="86887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041684" cy="3773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4 — Evaluate on Temporal Holdout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92881" y="5455716"/>
            <a:ext cx="17102239" cy="181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DE59"/>
                </a:solidFill>
                <a:latin typeface="Inter"/>
                <a:ea typeface="Inter"/>
                <a:cs typeface="Inter"/>
                <a:sym typeface="Inter"/>
              </a:rPr>
              <a:t>Why Macro F1 is the primary metric for a NIDS: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the model perfectly classifies Benign and DDoS (the two big classes) but misses SQL Injection entirely, Weighted F1 stays high (0.98) but Macro F1 drops to ~0.64. For a security system, a missed attack class is a critical failure — Macro F1 exposes this.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3799" y="352592"/>
            <a:ext cx="8226431" cy="4668842"/>
            <a:chOff x="0" y="0"/>
            <a:chExt cx="10968575" cy="62251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34462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MODEL TRAINING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604296"/>
              <a:ext cx="10336027" cy="1620828"/>
              <a:chOff x="0" y="0"/>
              <a:chExt cx="2041684" cy="3201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041684" cy="320164"/>
              </a:xfrm>
              <a:custGeom>
                <a:avLst/>
                <a:gdLst/>
                <a:ahLst/>
                <a:cxnLst/>
                <a:rect r="r" b="b" t="t" l="l"/>
                <a:pathLst>
                  <a:path h="320164" w="2041684">
                    <a:moveTo>
                      <a:pt x="86887" y="0"/>
                    </a:moveTo>
                    <a:lnTo>
                      <a:pt x="1954798" y="0"/>
                    </a:lnTo>
                    <a:cubicBezTo>
                      <a:pt x="2002784" y="0"/>
                      <a:pt x="2041684" y="38900"/>
                      <a:pt x="2041684" y="86887"/>
                    </a:cubicBezTo>
                    <a:lnTo>
                      <a:pt x="2041684" y="233277"/>
                    </a:lnTo>
                    <a:cubicBezTo>
                      <a:pt x="2041684" y="281263"/>
                      <a:pt x="2002784" y="320164"/>
                      <a:pt x="1954798" y="320164"/>
                    </a:cubicBezTo>
                    <a:lnTo>
                      <a:pt x="86887" y="320164"/>
                    </a:lnTo>
                    <a:cubicBezTo>
                      <a:pt x="38900" y="320164"/>
                      <a:pt x="0" y="281263"/>
                      <a:pt x="0" y="233277"/>
                    </a:cubicBezTo>
                    <a:lnTo>
                      <a:pt x="0" y="86887"/>
                    </a:lnTo>
                    <a:cubicBezTo>
                      <a:pt x="0" y="38900"/>
                      <a:pt x="38900" y="0"/>
                      <a:pt x="86887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041684" cy="3773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5 — Save Native Model (Backup)</a:t>
                </a: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592881" y="5455716"/>
            <a:ext cx="17102239" cy="272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Saves the XGBoost Booster in XGBoost JSON format (not pickle). This is human-readable, version-stable, </a:t>
            </a:r>
          </a:p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can be loaded by any XGBoost version ≥ 1.0.</a:t>
            </a:r>
          </a:p>
          <a:p>
            <a:pPr algn="l">
              <a:lnSpc>
                <a:spcPts val="3632"/>
              </a:lnSpc>
            </a:pPr>
          </a:p>
          <a:p>
            <a:pPr algn="l">
              <a:lnSpc>
                <a:spcPts val="3632"/>
              </a:lnSpc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size: 38.8 MB (38 MB for 207 trees × 8 depth levels)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a backup/debug format — production uses ONNX.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415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3799" y="352592"/>
            <a:ext cx="8226431" cy="4668842"/>
            <a:chOff x="0" y="0"/>
            <a:chExt cx="10968575" cy="622512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234462" y="219075"/>
              <a:ext cx="10734114" cy="38940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360"/>
                </a:lnSpc>
              </a:pPr>
              <a:r>
                <a:rPr lang="en-US" b="true" sz="8000" spc="-432">
                  <a:solidFill>
                    <a:srgbClr val="FFFF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FULL MODEL TRAINING PIPELINE</a:t>
              </a:r>
            </a:p>
          </p:txBody>
        </p:sp>
        <p:grpSp>
          <p:nvGrpSpPr>
            <p:cNvPr name="Group 7" id="7"/>
            <p:cNvGrpSpPr/>
            <p:nvPr/>
          </p:nvGrpSpPr>
          <p:grpSpPr>
            <a:xfrm rot="0">
              <a:off x="0" y="4604296"/>
              <a:ext cx="8108642" cy="1620828"/>
              <a:chOff x="0" y="0"/>
              <a:chExt cx="1601707" cy="32016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601707" cy="320164"/>
              </a:xfrm>
              <a:custGeom>
                <a:avLst/>
                <a:gdLst/>
                <a:ahLst/>
                <a:cxnLst/>
                <a:rect r="r" b="b" t="t" l="l"/>
                <a:pathLst>
                  <a:path h="320164" w="1601707">
                    <a:moveTo>
                      <a:pt x="110754" y="0"/>
                    </a:moveTo>
                    <a:lnTo>
                      <a:pt x="1490953" y="0"/>
                    </a:lnTo>
                    <a:cubicBezTo>
                      <a:pt x="1552121" y="0"/>
                      <a:pt x="1601707" y="49586"/>
                      <a:pt x="1601707" y="110754"/>
                    </a:cubicBezTo>
                    <a:lnTo>
                      <a:pt x="1601707" y="209410"/>
                    </a:lnTo>
                    <a:cubicBezTo>
                      <a:pt x="1601707" y="238783"/>
                      <a:pt x="1590038" y="266954"/>
                      <a:pt x="1569268" y="287724"/>
                    </a:cubicBezTo>
                    <a:cubicBezTo>
                      <a:pt x="1548498" y="308495"/>
                      <a:pt x="1520327" y="320164"/>
                      <a:pt x="1490953" y="320164"/>
                    </a:cubicBezTo>
                    <a:lnTo>
                      <a:pt x="110754" y="320164"/>
                    </a:lnTo>
                    <a:cubicBezTo>
                      <a:pt x="49586" y="320164"/>
                      <a:pt x="0" y="270577"/>
                      <a:pt x="0" y="209410"/>
                    </a:cubicBezTo>
                    <a:lnTo>
                      <a:pt x="0" y="110754"/>
                    </a:lnTo>
                    <a:cubicBezTo>
                      <a:pt x="0" y="49586"/>
                      <a:pt x="49586" y="0"/>
                      <a:pt x="110754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1601707" cy="3773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919"/>
                  </a:lnSpc>
                </a:pPr>
                <a:r>
                  <a:rPr lang="en-US" sz="2799">
                    <a:solidFill>
                      <a:srgbClr val="FFFFFF"/>
                    </a:solidFill>
                    <a:latin typeface="Inter"/>
                    <a:ea typeface="Inter"/>
                    <a:cs typeface="Inter"/>
                    <a:sym typeface="Inter"/>
                  </a:rPr>
                  <a:t>Step 6 — Export to ONNX</a:t>
                </a: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0">
            <a:off x="3196498" y="6380411"/>
            <a:ext cx="14498622" cy="3205086"/>
          </a:xfrm>
          <a:custGeom>
            <a:avLst/>
            <a:gdLst/>
            <a:ahLst/>
            <a:cxnLst/>
            <a:rect r="r" b="b" t="t" l="l"/>
            <a:pathLst>
              <a:path h="3205086" w="14498622">
                <a:moveTo>
                  <a:pt x="0" y="0"/>
                </a:moveTo>
                <a:lnTo>
                  <a:pt x="14498621" y="0"/>
                </a:lnTo>
                <a:lnTo>
                  <a:pt x="14498621" y="3205086"/>
                </a:lnTo>
                <a:lnTo>
                  <a:pt x="0" y="3205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6" t="-4159" r="-656" b="-411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2881" y="5455716"/>
            <a:ext cx="17102239" cy="43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sz="25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File size: 19.6 MB (roughly half the JSON format, due to binary encoding)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0084" y="7741806"/>
            <a:ext cx="2580277" cy="547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2"/>
              </a:lnSpc>
              <a:spcBef>
                <a:spcPct val="0"/>
              </a:spcBef>
            </a:pPr>
            <a:r>
              <a:rPr lang="en-US" b="true" sz="3194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Why ONNX?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943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9009" y="4328746"/>
            <a:ext cx="15049982" cy="3310996"/>
          </a:xfrm>
          <a:custGeom>
            <a:avLst/>
            <a:gdLst/>
            <a:ahLst/>
            <a:cxnLst/>
            <a:rect r="r" b="b" t="t" l="l"/>
            <a:pathLst>
              <a:path h="3310996" w="15049982">
                <a:moveTo>
                  <a:pt x="0" y="0"/>
                </a:moveTo>
                <a:lnTo>
                  <a:pt x="15049982" y="0"/>
                </a:lnTo>
                <a:lnTo>
                  <a:pt x="15049982" y="3310996"/>
                </a:lnTo>
                <a:lnTo>
                  <a:pt x="0" y="3310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0336" y="674244"/>
            <a:ext cx="10939149" cy="193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INFERENCE    ENGINE — STARTUP 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2881" y="3500034"/>
            <a:ext cx="17102239" cy="43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b="true" sz="2594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When the engine initializes, it runs 4 validation checks before accepting any traffic: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943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0336" y="674244"/>
            <a:ext cx="7656687" cy="193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GRPC SERVER ARCHITECTURE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2881" y="3500034"/>
            <a:ext cx="17102239" cy="896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b="true" sz="2594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The server.py wraps the InferenceEngine in an async gRPC service with bidirectional streaming: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70925" y="5076825"/>
            <a:ext cx="16018669" cy="3069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 Sniffer                                                   Python gRPC Server</a:t>
            </a:r>
          </a:p>
          <a:p>
            <a:pPr algn="l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                                                                            │</a:t>
            </a:r>
          </a:p>
          <a:p>
            <a:pPr algn="l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│── stream FeatureVector ──────────►     │      async for request in stream:</a:t>
            </a:r>
          </a:p>
          <a:p>
            <a:pPr algn="l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                                                                            │      features = np.array(request.features)</a:t>
            </a:r>
          </a:p>
          <a:p>
            <a:pPr algn="l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                                                                            │      label, conf, time = await to_thread(engine.predict, features)</a:t>
            </a:r>
          </a:p>
          <a:p>
            <a:pPr algn="l" marL="0" indent="0" lvl="0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  ◄───────── stream Verdict ─────────│      yield Verdict(label=label, confidence=conf)</a:t>
            </a:r>
          </a:p>
          <a:p>
            <a:pPr algn="l">
              <a:lnSpc>
                <a:spcPts val="3522"/>
              </a:lnSpc>
              <a:spcBef>
                <a:spcPct val="0"/>
              </a:spcBef>
            </a:pPr>
            <a:r>
              <a:rPr lang="en-US" sz="251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│                                                                            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943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1732" y="4063770"/>
            <a:ext cx="16744536" cy="3468412"/>
          </a:xfrm>
          <a:custGeom>
            <a:avLst/>
            <a:gdLst/>
            <a:ahLst/>
            <a:cxnLst/>
            <a:rect r="r" b="b" t="t" l="l"/>
            <a:pathLst>
              <a:path h="3468412" w="16744536">
                <a:moveTo>
                  <a:pt x="0" y="0"/>
                </a:moveTo>
                <a:lnTo>
                  <a:pt x="16744536" y="0"/>
                </a:lnTo>
                <a:lnTo>
                  <a:pt x="16744536" y="3468412"/>
                </a:lnTo>
                <a:lnTo>
                  <a:pt x="0" y="3468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" t="0" r="-21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20336" y="674244"/>
            <a:ext cx="8638495" cy="286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KEY ARCHITECTURAL DECISIONS: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969" y="150188"/>
            <a:ext cx="18378123" cy="9986624"/>
            <a:chOff x="0" y="0"/>
            <a:chExt cx="4840329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0329" cy="2630222"/>
            </a:xfrm>
            <a:custGeom>
              <a:avLst/>
              <a:gdLst/>
              <a:ahLst/>
              <a:cxnLst/>
              <a:rect r="r" b="b" t="t" l="l"/>
              <a:pathLst>
                <a:path h="2630222" w="4840329">
                  <a:moveTo>
                    <a:pt x="37492" y="0"/>
                  </a:moveTo>
                  <a:lnTo>
                    <a:pt x="4802837" y="0"/>
                  </a:lnTo>
                  <a:cubicBezTo>
                    <a:pt x="4823543" y="0"/>
                    <a:pt x="4840329" y="16786"/>
                    <a:pt x="4840329" y="37492"/>
                  </a:cubicBezTo>
                  <a:lnTo>
                    <a:pt x="4840329" y="2592730"/>
                  </a:lnTo>
                  <a:cubicBezTo>
                    <a:pt x="4840329" y="2602674"/>
                    <a:pt x="4836378" y="2612210"/>
                    <a:pt x="4829347" y="2619241"/>
                  </a:cubicBezTo>
                  <a:cubicBezTo>
                    <a:pt x="4822317" y="2626272"/>
                    <a:pt x="4812780" y="2630222"/>
                    <a:pt x="4802837" y="2630222"/>
                  </a:cubicBezTo>
                  <a:lnTo>
                    <a:pt x="37492" y="2630222"/>
                  </a:lnTo>
                  <a:cubicBezTo>
                    <a:pt x="16786" y="2630222"/>
                    <a:pt x="0" y="2613436"/>
                    <a:pt x="0" y="2592730"/>
                  </a:cubicBezTo>
                  <a:lnTo>
                    <a:pt x="0" y="37492"/>
                  </a:lnTo>
                  <a:cubicBezTo>
                    <a:pt x="0" y="16786"/>
                    <a:pt x="16786" y="0"/>
                    <a:pt x="3749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840329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9645" y="571667"/>
            <a:ext cx="7698893" cy="2865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DOCKER COMPOSE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9645" y="3605560"/>
            <a:ext cx="17102239" cy="43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b="true" sz="2594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All 7 services use network_mode: host.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9645" y="4123611"/>
            <a:ext cx="17102239" cy="135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b="true" sz="2594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This means every container shares the host's network namespace — no Docker bridge, no NAT, no DNS resolution between containers. All services talk via localhost.</a:t>
            </a:r>
          </a:p>
          <a:p>
            <a:pPr algn="l">
              <a:lnSpc>
                <a:spcPts val="363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7061" y="5409138"/>
            <a:ext cx="17102239" cy="43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2"/>
              </a:lnSpc>
              <a:spcBef>
                <a:spcPct val="0"/>
              </a:spcBef>
            </a:pPr>
            <a:r>
              <a:rPr lang="en-US" b="true" sz="2594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Why host mode?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6342" y="6019509"/>
            <a:ext cx="15766256" cy="420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6430" indent="-258215" lvl="1">
              <a:lnSpc>
                <a:spcPts val="3348"/>
              </a:lnSpc>
              <a:buAutoNum type="arabicPeriod" startAt="1"/>
            </a:pPr>
            <a:r>
              <a:rPr lang="en-US" b="true" sz="23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Sniffer needs raw socket access to the physical NIC for libpcap. Bridge mode would isolate it from real traffic.</a:t>
            </a:r>
          </a:p>
          <a:p>
            <a:pPr algn="l" marL="516430" indent="-258215" lvl="1">
              <a:lnSpc>
                <a:spcPts val="3348"/>
              </a:lnSpc>
              <a:buAutoNum type="arabicPeriod" startAt="1"/>
            </a:pPr>
            <a:r>
              <a:rPr lang="en-US" b="true" sz="23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Zero-config inter-service communication — INFERENCE_ADDR=localhost:50051, no service discovery needed.</a:t>
            </a:r>
          </a:p>
          <a:p>
            <a:pPr algn="l" marL="516430" indent="-258215" lvl="1">
              <a:lnSpc>
                <a:spcPts val="3348"/>
              </a:lnSpc>
              <a:buAutoNum type="arabicPeriod" startAt="1"/>
            </a:pPr>
            <a:r>
              <a:rPr lang="en-US" b="true" sz="23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Prometheus scraping works without container-to-container DNS — just localhost:8000, localhost:9091.</a:t>
            </a:r>
          </a:p>
          <a:p>
            <a:pPr algn="l">
              <a:lnSpc>
                <a:spcPts val="3348"/>
              </a:lnSpc>
            </a:pPr>
          </a:p>
          <a:p>
            <a:pPr algn="l">
              <a:lnSpc>
                <a:spcPts val="3348"/>
              </a:lnSpc>
            </a:pPr>
          </a:p>
          <a:p>
            <a:pPr algn="l">
              <a:lnSpc>
                <a:spcPts val="3348"/>
              </a:lnSpc>
              <a:spcBef>
                <a:spcPct val="0"/>
              </a:spcBef>
            </a:pPr>
            <a:r>
              <a:rPr lang="en-US" b="true" sz="23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      </a:t>
            </a:r>
            <a:r>
              <a:rPr lang="en-US" b="true" sz="239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trade-off: port conflicts with host services. All ports are configurable via .env.</a:t>
            </a:r>
          </a:p>
          <a:p>
            <a:pPr algn="l">
              <a:lnSpc>
                <a:spcPts val="33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943" y="150188"/>
            <a:ext cx="17936114" cy="9986624"/>
            <a:chOff x="0" y="0"/>
            <a:chExt cx="4723915" cy="26302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23915" cy="2630222"/>
            </a:xfrm>
            <a:custGeom>
              <a:avLst/>
              <a:gdLst/>
              <a:ahLst/>
              <a:cxnLst/>
              <a:rect r="r" b="b" t="t" l="l"/>
              <a:pathLst>
                <a:path h="2630222" w="4723915">
                  <a:moveTo>
                    <a:pt x="38416" y="0"/>
                  </a:moveTo>
                  <a:lnTo>
                    <a:pt x="4685499" y="0"/>
                  </a:lnTo>
                  <a:cubicBezTo>
                    <a:pt x="4706715" y="0"/>
                    <a:pt x="4723915" y="17199"/>
                    <a:pt x="4723915" y="38416"/>
                  </a:cubicBezTo>
                  <a:lnTo>
                    <a:pt x="4723915" y="2591806"/>
                  </a:lnTo>
                  <a:cubicBezTo>
                    <a:pt x="4723915" y="2601995"/>
                    <a:pt x="4719867" y="2611766"/>
                    <a:pt x="4712663" y="2618970"/>
                  </a:cubicBezTo>
                  <a:cubicBezTo>
                    <a:pt x="4705459" y="2626175"/>
                    <a:pt x="4695687" y="2630222"/>
                    <a:pt x="4685499" y="2630222"/>
                  </a:cubicBezTo>
                  <a:lnTo>
                    <a:pt x="38416" y="2630222"/>
                  </a:lnTo>
                  <a:cubicBezTo>
                    <a:pt x="17199" y="2630222"/>
                    <a:pt x="0" y="2613023"/>
                    <a:pt x="0" y="2591806"/>
                  </a:cubicBezTo>
                  <a:lnTo>
                    <a:pt x="0" y="38416"/>
                  </a:lnTo>
                  <a:cubicBezTo>
                    <a:pt x="0" y="17199"/>
                    <a:pt x="17199" y="0"/>
                    <a:pt x="3841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723915" cy="2658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89645" y="3082964"/>
            <a:ext cx="10177314" cy="6869687"/>
          </a:xfrm>
          <a:custGeom>
            <a:avLst/>
            <a:gdLst/>
            <a:ahLst/>
            <a:cxnLst/>
            <a:rect r="r" b="b" t="t" l="l"/>
            <a:pathLst>
              <a:path h="6869687" w="10177314">
                <a:moveTo>
                  <a:pt x="0" y="0"/>
                </a:moveTo>
                <a:lnTo>
                  <a:pt x="10177315" y="0"/>
                </a:lnTo>
                <a:lnTo>
                  <a:pt x="10177315" y="6869687"/>
                </a:lnTo>
                <a:lnTo>
                  <a:pt x="0" y="6869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9645" y="571667"/>
            <a:ext cx="8050585" cy="1932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0"/>
              </a:lnSpc>
            </a:pPr>
            <a:r>
              <a:rPr lang="en-US" b="true" sz="8000" spc="-43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DATABASE SCHEMA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353" y="2568908"/>
            <a:ext cx="16020613" cy="399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  <a:spcBef>
                <a:spcPct val="0"/>
              </a:spcBef>
            </a:pPr>
            <a:r>
              <a:rPr lang="en-US" b="true" sz="2334">
                <a:solidFill>
                  <a:srgbClr val="FFDE59"/>
                </a:solidFill>
                <a:latin typeface="Inter Bold"/>
                <a:ea typeface="Inter Bold"/>
                <a:cs typeface="Inter Bold"/>
                <a:sym typeface="Inter Bold"/>
              </a:rPr>
              <a:t>The only table. Every non-Benign verdict above the confidence threshold is persisted here via pgx.CopyFrom.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33333">
              <a:srgbClr val="000000">
                <a:alpha val="100000"/>
              </a:srgbClr>
            </a:gs>
            <a:gs pos="66667">
              <a:srgbClr val="004AAD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1789" y="413957"/>
            <a:ext cx="17584422" cy="9459086"/>
            <a:chOff x="0" y="0"/>
            <a:chExt cx="4631288" cy="2491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31288" cy="2491282"/>
            </a:xfrm>
            <a:custGeom>
              <a:avLst/>
              <a:gdLst/>
              <a:ahLst/>
              <a:cxnLst/>
              <a:rect r="r" b="b" t="t" l="l"/>
              <a:pathLst>
                <a:path h="2491282" w="4631288">
                  <a:moveTo>
                    <a:pt x="39184" y="0"/>
                  </a:moveTo>
                  <a:lnTo>
                    <a:pt x="4592104" y="0"/>
                  </a:lnTo>
                  <a:cubicBezTo>
                    <a:pt x="4613745" y="0"/>
                    <a:pt x="4631288" y="17543"/>
                    <a:pt x="4631288" y="39184"/>
                  </a:cubicBezTo>
                  <a:lnTo>
                    <a:pt x="4631288" y="2452098"/>
                  </a:lnTo>
                  <a:cubicBezTo>
                    <a:pt x="4631288" y="2473739"/>
                    <a:pt x="4613745" y="2491282"/>
                    <a:pt x="4592104" y="2491282"/>
                  </a:cubicBezTo>
                  <a:lnTo>
                    <a:pt x="39184" y="2491282"/>
                  </a:lnTo>
                  <a:cubicBezTo>
                    <a:pt x="17543" y="2491282"/>
                    <a:pt x="0" y="2473739"/>
                    <a:pt x="0" y="2452098"/>
                  </a:cubicBezTo>
                  <a:lnTo>
                    <a:pt x="0" y="39184"/>
                  </a:lnTo>
                  <a:cubicBezTo>
                    <a:pt x="0" y="17543"/>
                    <a:pt x="17543" y="0"/>
                    <a:pt x="3918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004AA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rnd">
              <a:gradFill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631288" cy="2519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663209" y="7402883"/>
            <a:ext cx="6961582" cy="848821"/>
            <a:chOff x="0" y="0"/>
            <a:chExt cx="1833503" cy="2235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33503" cy="223558"/>
            </a:xfrm>
            <a:custGeom>
              <a:avLst/>
              <a:gdLst/>
              <a:ahLst/>
              <a:cxnLst/>
              <a:rect r="r" b="b" t="t" l="l"/>
              <a:pathLst>
                <a:path h="223558" w="1833503">
                  <a:moveTo>
                    <a:pt x="96752" y="0"/>
                  </a:moveTo>
                  <a:lnTo>
                    <a:pt x="1736751" y="0"/>
                  </a:lnTo>
                  <a:cubicBezTo>
                    <a:pt x="1790186" y="0"/>
                    <a:pt x="1833503" y="43317"/>
                    <a:pt x="1833503" y="96752"/>
                  </a:cubicBezTo>
                  <a:lnTo>
                    <a:pt x="1833503" y="126806"/>
                  </a:lnTo>
                  <a:cubicBezTo>
                    <a:pt x="1833503" y="180240"/>
                    <a:pt x="1790186" y="223558"/>
                    <a:pt x="1736751" y="223558"/>
                  </a:cubicBezTo>
                  <a:lnTo>
                    <a:pt x="96752" y="223558"/>
                  </a:lnTo>
                  <a:cubicBezTo>
                    <a:pt x="71092" y="223558"/>
                    <a:pt x="46483" y="213364"/>
                    <a:pt x="28338" y="195220"/>
                  </a:cubicBezTo>
                  <a:cubicBezTo>
                    <a:pt x="10193" y="177075"/>
                    <a:pt x="0" y="152466"/>
                    <a:pt x="0" y="126806"/>
                  </a:cubicBezTo>
                  <a:lnTo>
                    <a:pt x="0" y="96752"/>
                  </a:lnTo>
                  <a:cubicBezTo>
                    <a:pt x="0" y="43317"/>
                    <a:pt x="43317" y="0"/>
                    <a:pt x="96752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833503" cy="290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Secure Your Digital Life Today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9378291">
            <a:off x="14710706" y="6781997"/>
            <a:ext cx="6203238" cy="620323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328200" y="7399491"/>
            <a:ext cx="4968251" cy="4968251"/>
            <a:chOff x="0" y="0"/>
            <a:chExt cx="6624335" cy="6624335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-9378291">
            <a:off x="-2579987" y="-2714657"/>
            <a:ext cx="6203238" cy="620323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38100" cap="sq">
              <a:gradFill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81782" lIns="81782" bIns="81782" rIns="81782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1962493" y="-2097163"/>
            <a:ext cx="4968251" cy="4968251"/>
            <a:chOff x="0" y="0"/>
            <a:chExt cx="6624335" cy="6624335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24335" cy="6624335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004AAD">
                      <a:alpha val="100000"/>
                    </a:srgbClr>
                  </a:gs>
                  <a:gs pos="100000">
                    <a:srgbClr val="5DE0E6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347536" y="347536"/>
              <a:ext cx="5929263" cy="5929263"/>
              <a:chOff x="0" y="0"/>
              <a:chExt cx="81280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5DE0E6">
                      <a:alpha val="100000"/>
                    </a:srgbClr>
                  </a:gs>
                  <a:gs pos="100000">
                    <a:srgbClr val="004AAD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60"/>
                  </a:lnSpc>
                </a:pPr>
              </a:p>
            </p:txBody>
          </p:sp>
        </p:grpSp>
      </p:grpSp>
      <p:sp>
        <p:nvSpPr>
          <p:cNvPr name="TextBox 28" id="28"/>
          <p:cNvSpPr txBox="true"/>
          <p:nvPr/>
        </p:nvSpPr>
        <p:spPr>
          <a:xfrm rot="0">
            <a:off x="3589009" y="2929447"/>
            <a:ext cx="11109983" cy="405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33"/>
              </a:lnSpc>
            </a:pPr>
            <a:r>
              <a:rPr lang="en-US" b="true" sz="16775" spc="-9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THANK</a:t>
            </a:r>
          </a:p>
          <a:p>
            <a:pPr algn="ctr">
              <a:lnSpc>
                <a:spcPts val="15433"/>
              </a:lnSpc>
            </a:pPr>
            <a:r>
              <a:rPr lang="en-US" b="true" sz="16775" spc="-905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DAHII_Z9aKE</dc:identifier>
  <dcterms:modified xsi:type="dcterms:W3CDTF">2011-08-01T06:04:30Z</dcterms:modified>
  <cp:revision>1</cp:revision>
  <dc:title>Blue and Black Modern Cybersecurity Presentation</dc:title>
</cp:coreProperties>
</file>